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494479ce0a4159" /><Relationship Type="http://schemas.openxmlformats.org/officeDocument/2006/relationships/extended-properties" Target="/docProps/app.xml" Id="R0c94fb3a32c5421b" /><Relationship Type="http://schemas.openxmlformats.org/officeDocument/2006/relationships/officeDocument" Target="/ppt/presentation.xml" Id="R22e880a6fdbd46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9d948e00624911"/>
  </p:sldMasterIdLst>
  <p:notesMasterIdLst>
    <p:notesMasterId xmlns:r="http://schemas.openxmlformats.org/officeDocument/2006/relationships" r:id="R6540dba7aad14e93"/>
  </p:notesMasterIdLst>
  <p:sldIdLst>
    <p:sldId xmlns:r="http://schemas.openxmlformats.org/officeDocument/2006/relationships" id="256" r:id="R65335ed83c7e420e"/>
    <p:sldId xmlns:r="http://schemas.openxmlformats.org/officeDocument/2006/relationships" id="257" r:id="R844c29af99f74b6d"/>
    <p:sldId xmlns:r="http://schemas.openxmlformats.org/officeDocument/2006/relationships" id="258" r:id="R3596f5706c414f8d"/>
    <p:sldId xmlns:r="http://schemas.openxmlformats.org/officeDocument/2006/relationships" id="259" r:id="R526f0e355f274e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ba4a64483c47c4" /><Relationship Type="http://schemas.openxmlformats.org/officeDocument/2006/relationships/slideMaster" Target="/ppt/slideMasters/slideMaster1.xml" Id="R9e9d948e00624911" /><Relationship Type="http://schemas.openxmlformats.org/officeDocument/2006/relationships/notesMaster" Target="/ppt/notesMasters/notesMaster1.xml" Id="R6540dba7aad14e93" /><Relationship Type="http://schemas.openxmlformats.org/officeDocument/2006/relationships/presProps" Target="/ppt/presProps.xml" Id="R6ec38a71ba434111" /><Relationship Type="http://schemas.openxmlformats.org/officeDocument/2006/relationships/tableStyles" Target="/ppt/tableStyles.xml" Id="R4b8c3ec18cae4fa5" /><Relationship Type="http://schemas.openxmlformats.org/officeDocument/2006/relationships/slide" Target="/ppt/slides/slide1.xml" Id="R65335ed83c7e420e" /><Relationship Type="http://schemas.openxmlformats.org/officeDocument/2006/relationships/slide" Target="/ppt/slides/slide2.xml" Id="R844c29af99f74b6d" /><Relationship Type="http://schemas.openxmlformats.org/officeDocument/2006/relationships/slide" Target="/ppt/slides/slide3.xml" Id="R3596f5706c414f8d" /><Relationship Type="http://schemas.openxmlformats.org/officeDocument/2006/relationships/slide" Target="/ppt/slides/slide4.xml" Id="R526f0e355f274e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b7e34ca23b42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439b082634879" /><Relationship Type="http://schemas.openxmlformats.org/officeDocument/2006/relationships/notesMaster" Target="/ppt/notesMasters/notesMaster1.xml" Id="Rd4407e5d8a6d45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9926f0ea5846ea" /><Relationship Type="http://schemas.openxmlformats.org/officeDocument/2006/relationships/notesMaster" Target="/ppt/notesMasters/notesMaster1.xml" Id="R071b0d5d17e6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84af2209904114" /><Relationship Type="http://schemas.openxmlformats.org/officeDocument/2006/relationships/notesMaster" Target="/ppt/notesMasters/notesMaster1.xml" Id="R1d3aa7501c5c49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976379639412f" /><Relationship Type="http://schemas.openxmlformats.org/officeDocument/2006/relationships/notesMaster" Target="/ppt/notesMasters/notesMaster1.xml" Id="R79a3a55fbfeb48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676bbd84a44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fae64fab4e4c31" /><Relationship Type="http://schemas.openxmlformats.org/officeDocument/2006/relationships/slideLayout" Target="/ppt/slideLayouts/slideLayout1.xml" Id="R02aaf72e095144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aaf72e095144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4d75a6b2a40d6" /><Relationship Type="http://schemas.openxmlformats.org/officeDocument/2006/relationships/image" Target="/ppt/media/image.jpeg" Id="Ra83a29cdb2364636" /><Relationship Type="http://schemas.openxmlformats.org/officeDocument/2006/relationships/image" Target="/ppt/media/image.png" Id="R4910ea1f2c414496" /><Relationship Type="http://schemas.openxmlformats.org/officeDocument/2006/relationships/notesSlide" Target="/ppt/notesSlides/notesSlide1.xml" Id="R885fd9192cb644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2c6b09b454c25" /><Relationship Type="http://schemas.openxmlformats.org/officeDocument/2006/relationships/image" Target="/ppt/media/image2.jpeg" Id="R2f36f202e79543c8" /><Relationship Type="http://schemas.openxmlformats.org/officeDocument/2006/relationships/image" Target="/ppt/media/image3.jpeg" Id="R83442f4327fd448d" /><Relationship Type="http://schemas.openxmlformats.org/officeDocument/2006/relationships/image" Target="/ppt/media/image4.jpeg" Id="R30ecffe9e49a4caf" /><Relationship Type="http://schemas.openxmlformats.org/officeDocument/2006/relationships/notesSlide" Target="/ppt/notesSlides/notesSlide2.xml" Id="R558a81c5a38c45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c8427d42f40a2" /><Relationship Type="http://schemas.openxmlformats.org/officeDocument/2006/relationships/image" Target="/ppt/media/image5.jpeg" Id="Rd41081f2eb5b4d9d" /><Relationship Type="http://schemas.openxmlformats.org/officeDocument/2006/relationships/notesSlide" Target="/ppt/notesSlides/notesSlide3.xml" Id="R5cd465d999244b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f0550242a4bfb" /><Relationship Type="http://schemas.openxmlformats.org/officeDocument/2006/relationships/image" Target="/ppt/media/image2.png" Id="R2d918a4292284466" /><Relationship Type="http://schemas.openxmlformats.org/officeDocument/2006/relationships/notesSlide" Target="/ppt/notesSlides/notesSlide4.xml" Id="R587dc87f52b140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line">
            <a:extLst xmlns:a="http://schemas.openxmlformats.org/drawingml/2006/main">
              <a:ext uri="{FF2B5EF4-FFF2-40B4-BE49-F238E27FC236}">
                <a16:creationId xmlns:a16="http://schemas.microsoft.com/office/drawing/2014/main" id="{76B96F66-5A9A-496D-9B43-5D9A2CCF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F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B6777F1-619E-47F8-84A4-FD9D22F9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IRONHABIT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F55DC37-1A0F-4931-AC4F-AD33F0D9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334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IronHabit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37C899A-81E5-4A52-8716-C0BC6D02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49530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Allenarsi, registrare, migliorare.
In un’unica app, anche offline.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0DF5A26C-D753-4DD9-A17E-71D576B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A8A93"/>
                </a:solidFill>
                <a:latin typeface="Helvetica Neue"/>
                <a:ea typeface="Helvetica Neue"/>
                <a:cs typeface="Helvetica Neue"/>
              </a:defRPr>
            </a:pPr>
            <a:r>
              <a:t>Workout tracker mobile • React Native + Expo</a:t>
            </a:r>
          </a:p>
        </p:txBody>
      </p:sp>
      <p:sp>
        <p:nvSpPr>
          <p:cNvPr id="6" name="media-panel">
            <a:extLst xmlns:a="http://schemas.openxmlformats.org/drawingml/2006/main">
              <a:ext uri="{FF2B5EF4-FFF2-40B4-BE49-F238E27FC236}">
                <a16:creationId xmlns:a16="http://schemas.microsoft.com/office/drawing/2014/main" id="{67420A01-4D20-42C4-833A-26188D37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"/>
            <a:ext cx="5257800" cy="590550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0A0A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hone-shadow">
            <a:extLst xmlns:a="http://schemas.openxmlformats.org/drawingml/2006/main">
              <a:ext uri="{FF2B5EF4-FFF2-40B4-BE49-F238E27FC236}">
                <a16:creationId xmlns:a16="http://schemas.microsoft.com/office/drawing/2014/main" id="{B30B511A-4C10-4192-973E-26630F8A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85800"/>
            <a:ext cx="2857500" cy="52197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525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a29cdb2364636"/>
          <a:srcRect xmlns:a="http://schemas.openxmlformats.org/drawingml/2006/main" l="0" t="5490" r="0" b="5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800100"/>
            <a:ext cx="2590800" cy="4991100"/>
          </a:xfrm>
          <a:prstGeom xmlns:a="http://schemas.openxmlformats.org/drawingml/2006/main" prst="roundRect">
            <a:avLst>
              <a:gd name="adj" fmla="val 4412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0ea1f2c414496"/>
          <a:stretch xmlns:a="http://schemas.openxmlformats.org/drawingml/2006/main"/>
        </p:blipFill>
        <p:spPr>
          <a:xfrm xmlns:a="http://schemas.openxmlformats.org/drawingml/2006/main">
            <a:off x="6800850" y="781050"/>
            <a:ext cx="1009650" cy="1009650"/>
          </a:xfrm>
          <a:prstGeom xmlns:a="http://schemas.openxmlformats.org/drawingml/2006/main" prst="roundRect">
            <a:avLst>
              <a:gd name="adj" fmla="val 11321"/>
            </a:avLst>
          </a:prstGeom>
        </p:spPr>
      </p:pic>
      <p:sp>
        <p:nvSpPr>
          <p:cNvPr id="10" name="cover-tag">
            <a:extLst xmlns:a="http://schemas.openxmlformats.org/drawingml/2006/main">
              <a:ext uri="{FF2B5EF4-FFF2-40B4-BE49-F238E27FC236}">
                <a16:creationId xmlns:a16="http://schemas.microsoft.com/office/drawing/2014/main" id="{17F61756-E5D6-4C15-AAAF-678A375E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WORKOUT
GUIDATO</a:t>
            </a:r>
          </a:p>
        </p:txBody>
      </p:sp>
      <p:sp>
        <p:nvSpPr>
          <p:cNvPr id="11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5087A1CA-DC65-4698-9B50-3983F5B4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12192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9C0"/>
                </a:solidFill>
                <a:latin typeface="Helvetica Neue"/>
                <a:ea typeface="Helvetica Neue"/>
                <a:cs typeface="Helvetica Neue"/>
              </a:defRPr>
            </a:pPr>
            <a:r>
              <a:t>Timer, serie e volume
sempre sotto controllo.</a:t>
            </a:r>
          </a:p>
        </p:txBody>
      </p:sp>
      <p:sp>
        <p:nvSpPr>
          <p:cNvPr id="12" name="brand-1">
            <a:extLst xmlns:a="http://schemas.openxmlformats.org/drawingml/2006/main">
              <a:ext uri="{FF2B5EF4-FFF2-40B4-BE49-F238E27FC236}">
                <a16:creationId xmlns:a16="http://schemas.microsoft.com/office/drawing/2014/main" id="{0C01BFB4-4E85-4317-A223-2177E6FB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8A93"/>
                </a:solidFill>
                <a:latin typeface="Helvetica Neue"/>
                <a:ea typeface="Helvetica Neue"/>
                <a:cs typeface="Helvetica Neue"/>
              </a:defRPr>
            </a:pPr>
            <a:r>
              <a:t>IRONHABIT</a:t>
            </a:r>
          </a:p>
        </p:txBody>
      </p:sp>
      <p:sp>
        <p:nvSpPr>
          <p:cNvPr id="13" name="page-1">
            <a:extLst xmlns:a="http://schemas.openxmlformats.org/drawingml/2006/main">
              <a:ext uri="{FF2B5EF4-FFF2-40B4-BE49-F238E27FC236}">
                <a16:creationId xmlns:a16="http://schemas.microsoft.com/office/drawing/2014/main" id="{38A6D364-4B23-4DEC-A488-5DBBE1D5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93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1474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low-title">
            <a:extLst xmlns:a="http://schemas.openxmlformats.org/drawingml/2006/main">
              <a:ext uri="{FF2B5EF4-FFF2-40B4-BE49-F238E27FC236}">
                <a16:creationId xmlns:a16="http://schemas.microsoft.com/office/drawing/2014/main" id="{C5C6B9D2-0C44-44C5-98FA-1F3B6428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Dalla scheda alla serie, il flusso resta continuo</a:t>
            </a:r>
          </a:p>
        </p:txBody>
      </p:sp>
      <p:sp>
        <p:nvSpPr>
          <p:cNvPr id="2" name="step-1">
            <a:extLst xmlns:a="http://schemas.openxmlformats.org/drawingml/2006/main">
              <a:ext uri="{FF2B5EF4-FFF2-40B4-BE49-F238E27FC236}">
                <a16:creationId xmlns:a16="http://schemas.microsoft.com/office/drawing/2014/main" id="{414DF479-D22C-4EE2-9E73-D63AA877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1F1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3" name="label-1">
            <a:extLst xmlns:a="http://schemas.openxmlformats.org/drawingml/2006/main">
              <a:ext uri="{FF2B5EF4-FFF2-40B4-BE49-F238E27FC236}">
                <a16:creationId xmlns:a16="http://schemas.microsoft.com/office/drawing/2014/main" id="{0BDB1677-6CD0-4C25-BDFC-2B1123E2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811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PIANIFICA</a:t>
            </a:r>
          </a:p>
        </p:txBody>
      </p:sp>
      <p:sp>
        <p:nvSpPr>
          <p:cNvPr id="4" name="step-2">
            <a:extLst xmlns:a="http://schemas.openxmlformats.org/drawingml/2006/main">
              <a:ext uri="{FF2B5EF4-FFF2-40B4-BE49-F238E27FC236}">
                <a16:creationId xmlns:a16="http://schemas.microsoft.com/office/drawing/2014/main" id="{2B02F6B2-3EAF-45A6-AC3B-5AA8561B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811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1F1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label-2">
            <a:extLst xmlns:a="http://schemas.openxmlformats.org/drawingml/2006/main">
              <a:ext uri="{FF2B5EF4-FFF2-40B4-BE49-F238E27FC236}">
                <a16:creationId xmlns:a16="http://schemas.microsoft.com/office/drawing/2014/main" id="{8E75D741-C36D-42CD-A509-DE7222AB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1811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SCEGLI</a:t>
            </a:r>
          </a:p>
        </p:txBody>
      </p:sp>
      <p:sp>
        <p:nvSpPr>
          <p:cNvPr id="6" name="step-3">
            <a:extLst xmlns:a="http://schemas.openxmlformats.org/drawingml/2006/main">
              <a:ext uri="{FF2B5EF4-FFF2-40B4-BE49-F238E27FC236}">
                <a16:creationId xmlns:a16="http://schemas.microsoft.com/office/drawing/2014/main" id="{D2FD5BFA-0E7F-4452-A89E-7C60C74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811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1F1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7" name="label-3">
            <a:extLst xmlns:a="http://schemas.openxmlformats.org/drawingml/2006/main">
              <a:ext uri="{FF2B5EF4-FFF2-40B4-BE49-F238E27FC236}">
                <a16:creationId xmlns:a16="http://schemas.microsoft.com/office/drawing/2014/main" id="{42CB69AB-8C40-4237-9E16-6008251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1811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ALLENATI</a:t>
            </a:r>
          </a:p>
        </p:txBody>
      </p:sp>
      <p:sp>
        <p:nvSpPr>
          <p:cNvPr id="8" name="shot-frame-1">
            <a:extLst xmlns:a="http://schemas.openxmlformats.org/drawingml/2006/main">
              <a:ext uri="{FF2B5EF4-FFF2-40B4-BE49-F238E27FC236}">
                <a16:creationId xmlns:a16="http://schemas.microsoft.com/office/drawing/2014/main" id="{682E01DD-B8BB-4C16-9B84-32F260BC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857500" cy="42100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A0A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">
            <a:extLst xmlns:a="http://schemas.openxmlformats.org/drawingml/2006/main">
              <a:ext uri="{FF2B5EF4-FFF2-40B4-BE49-F238E27FC236}">
                <a16:creationId xmlns:a16="http://schemas.microsoft.com/office/drawing/2014/main" id="{AF6C3707-84CD-4A3B-BA6E-EE093A17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2857500" cy="42100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A0A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ot-frame-3">
            <a:extLst xmlns:a="http://schemas.openxmlformats.org/drawingml/2006/main">
              <a:ext uri="{FF2B5EF4-FFF2-40B4-BE49-F238E27FC236}">
                <a16:creationId xmlns:a16="http://schemas.microsoft.com/office/drawing/2014/main" id="{D47AB0FE-B853-46A4-ACD6-C41FAA74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2857500" cy="42100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A0A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-1">
            <a:extLst xmlns:a="http://schemas.openxmlformats.org/drawingml/2006/main">
              <a:ext uri="{FF2B5EF4-FFF2-40B4-BE49-F238E27FC236}">
                <a16:creationId xmlns:a16="http://schemas.microsoft.com/office/drawing/2014/main" id="{49C64BD3-6453-4F28-9974-F18AD500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Crea routine o avvia una sessione libera.</a:t>
            </a:r>
          </a:p>
        </p:txBody>
      </p:sp>
      <p:sp>
        <p:nvSpPr>
          <p:cNvPr id="12" name="cap-2">
            <a:extLst xmlns:a="http://schemas.openxmlformats.org/drawingml/2006/main">
              <a:ext uri="{FF2B5EF4-FFF2-40B4-BE49-F238E27FC236}">
                <a16:creationId xmlns:a16="http://schemas.microsoft.com/office/drawing/2014/main" id="{124AD32B-94CA-4E67-A435-DBC37AFD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055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Trova l’esercizio giusto nel catalogo.</a:t>
            </a:r>
          </a:p>
        </p:txBody>
      </p:sp>
      <p:sp>
        <p:nvSpPr>
          <p:cNvPr id="13" name="cap-3">
            <a:extLst xmlns:a="http://schemas.openxmlformats.org/drawingml/2006/main">
              <a:ext uri="{FF2B5EF4-FFF2-40B4-BE49-F238E27FC236}">
                <a16:creationId xmlns:a16="http://schemas.microsoft.com/office/drawing/2014/main" id="{3D26B485-2983-4975-90D3-F5EE3DA2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055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Registra carico, ripetizioni e recupero.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6f202e79543c8"/>
          <a:srcRect xmlns:a="http://schemas.openxmlformats.org/drawingml/2006/main" l="0" t="15009" r="0" b="150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628900" cy="39814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42f4327fd448d"/>
          <a:srcRect xmlns:a="http://schemas.openxmlformats.org/drawingml/2006/main" l="0" t="15009" r="0" b="150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1676400"/>
            <a:ext cx="2628900" cy="39814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cffe9e49a4caf"/>
          <a:srcRect xmlns:a="http://schemas.openxmlformats.org/drawingml/2006/main" l="0" t="15009" r="0" b="150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1676400"/>
            <a:ext cx="2628900" cy="39814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17" name="brand-2">
            <a:extLst xmlns:a="http://schemas.openxmlformats.org/drawingml/2006/main">
              <a:ext uri="{FF2B5EF4-FFF2-40B4-BE49-F238E27FC236}">
                <a16:creationId xmlns:a16="http://schemas.microsoft.com/office/drawing/2014/main" id="{AA3C3440-580D-4C65-9899-4EE8CB7B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8A93"/>
                </a:solidFill>
                <a:latin typeface="Helvetica Neue"/>
                <a:ea typeface="Helvetica Neue"/>
                <a:cs typeface="Helvetica Neue"/>
              </a:defRPr>
            </a:pPr>
            <a:r>
              <a:t>IRONHABIT</a:t>
            </a:r>
          </a:p>
        </p:txBody>
      </p:sp>
      <p:sp>
        <p:nvSpPr>
          <p:cNvPr id="18" name="page-2">
            <a:extLst xmlns:a="http://schemas.openxmlformats.org/drawingml/2006/main">
              <a:ext uri="{FF2B5EF4-FFF2-40B4-BE49-F238E27FC236}">
                <a16:creationId xmlns:a16="http://schemas.microsoft.com/office/drawing/2014/main" id="{28BC80C3-86C5-416B-BDDD-1C347895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9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817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cus-title">
            <a:extLst xmlns:a="http://schemas.openxmlformats.org/drawingml/2006/main">
              <a:ext uri="{FF2B5EF4-FFF2-40B4-BE49-F238E27FC236}">
                <a16:creationId xmlns:a16="http://schemas.microsoft.com/office/drawing/2014/main" id="{4719EFED-B0E6-4D96-ABAF-D2489D88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Durante il workout contano solo i dati utili</a:t>
            </a:r>
          </a:p>
        </p:txBody>
      </p:sp>
      <p:sp>
        <p:nvSpPr>
          <p:cNvPr id="2" name="focus-media">
            <a:extLst xmlns:a="http://schemas.openxmlformats.org/drawingml/2006/main">
              <a:ext uri="{FF2B5EF4-FFF2-40B4-BE49-F238E27FC236}">
                <a16:creationId xmlns:a16="http://schemas.microsoft.com/office/drawing/2014/main" id="{96134712-9F45-4E7B-8BAA-5E1FAB00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4857750" cy="49339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0A0A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cus-lead">
            <a:extLst xmlns:a="http://schemas.openxmlformats.org/drawingml/2006/main">
              <a:ext uri="{FF2B5EF4-FFF2-40B4-BE49-F238E27FC236}">
                <a16:creationId xmlns:a16="http://schemas.microsoft.com/office/drawing/2014/main" id="{DAD930D6-D6AC-4866-94BF-42C2B238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314450"/>
            <a:ext cx="523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Un’interfaccia pensata per restare leggibile anche tra una serie e l’altra.</a:t>
            </a:r>
          </a:p>
        </p:txBody>
      </p:sp>
      <p:sp>
        <p:nvSpPr>
          <p:cNvPr id="4" name="bar-1">
            <a:extLst xmlns:a="http://schemas.openxmlformats.org/drawingml/2006/main">
              <a:ext uri="{FF2B5EF4-FFF2-40B4-BE49-F238E27FC236}">
                <a16:creationId xmlns:a16="http://schemas.microsoft.com/office/drawing/2014/main" id="{47A28B2D-263A-41AD-8242-5135030B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F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at-1-title">
            <a:extLst xmlns:a="http://schemas.openxmlformats.org/drawingml/2006/main">
              <a:ext uri="{FF2B5EF4-FFF2-40B4-BE49-F238E27FC236}">
                <a16:creationId xmlns:a16="http://schemas.microsoft.com/office/drawing/2014/main" id="{2CE8E25D-11C6-41F0-9E5F-C1BE0128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336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Timer automatico</a:t>
            </a:r>
          </a:p>
        </p:txBody>
      </p:sp>
      <p:sp>
        <p:nvSpPr>
          <p:cNvPr id="6" name="feat-1-body">
            <a:extLst xmlns:a="http://schemas.openxmlformats.org/drawingml/2006/main">
              <a:ext uri="{FF2B5EF4-FFF2-40B4-BE49-F238E27FC236}">
                <a16:creationId xmlns:a16="http://schemas.microsoft.com/office/drawing/2014/main" id="{9885B71B-9FAD-40A7-8C94-3EE9272A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Parte quando completi una serie.</a:t>
            </a:r>
          </a:p>
        </p:txBody>
      </p:sp>
      <p:sp>
        <p:nvSpPr>
          <p:cNvPr id="7" name="bar-2">
            <a:extLst xmlns:a="http://schemas.openxmlformats.org/drawingml/2006/main">
              <a:ext uri="{FF2B5EF4-FFF2-40B4-BE49-F238E27FC236}">
                <a16:creationId xmlns:a16="http://schemas.microsoft.com/office/drawing/2014/main" id="{D677C4D3-34BB-4995-A9D3-3B522198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528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eat-2-title">
            <a:extLst xmlns:a="http://schemas.openxmlformats.org/drawingml/2006/main">
              <a:ext uri="{FF2B5EF4-FFF2-40B4-BE49-F238E27FC236}">
                <a16:creationId xmlns:a16="http://schemas.microsoft.com/office/drawing/2014/main" id="{78C26B92-AB53-4C82-A9E0-91EC77D5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Tracking adattivo</a:t>
            </a:r>
          </a:p>
        </p:txBody>
      </p:sp>
      <p:sp>
        <p:nvSpPr>
          <p:cNvPr id="9" name="feat-2-body">
            <a:extLst xmlns:a="http://schemas.openxmlformats.org/drawingml/2006/main">
              <a:ext uri="{FF2B5EF4-FFF2-40B4-BE49-F238E27FC236}">
                <a16:creationId xmlns:a16="http://schemas.microsoft.com/office/drawing/2014/main" id="{CC2DDB06-929D-4DD8-AF39-5F8B4E38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Carico, ripetizioni, tempo o distanza.</a:t>
            </a:r>
          </a:p>
        </p:txBody>
      </p:sp>
      <p:sp>
        <p:nvSpPr>
          <p:cNvPr id="10" name="bar-3">
            <a:extLst xmlns:a="http://schemas.openxmlformats.org/drawingml/2006/main">
              <a:ext uri="{FF2B5EF4-FFF2-40B4-BE49-F238E27FC236}">
                <a16:creationId xmlns:a16="http://schemas.microsoft.com/office/drawing/2014/main" id="{6AE8DC89-4617-410E-8FD7-DF41745B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33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eat-3-title">
            <a:extLst xmlns:a="http://schemas.openxmlformats.org/drawingml/2006/main">
              <a:ext uri="{FF2B5EF4-FFF2-40B4-BE49-F238E27FC236}">
                <a16:creationId xmlns:a16="http://schemas.microsoft.com/office/drawing/2014/main" id="{7E79C08F-197F-4DD8-9085-8865918D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Progressione reale</a:t>
            </a:r>
          </a:p>
        </p:txBody>
      </p:sp>
      <p:sp>
        <p:nvSpPr>
          <p:cNvPr id="12" name="feat-3-body">
            <a:extLst xmlns:a="http://schemas.openxmlformats.org/drawingml/2006/main">
              <a:ext uri="{FF2B5EF4-FFF2-40B4-BE49-F238E27FC236}">
                <a16:creationId xmlns:a16="http://schemas.microsoft.com/office/drawing/2014/main" id="{50B91D2F-D2A9-4E76-9BB5-DAD11A0D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RPE, superset, warm-up e stima 1RM.</a:t>
            </a:r>
          </a:p>
        </p:txBody>
      </p:sp>
      <p:sp>
        <p:nvSpPr>
          <p:cNvPr id="13" name="bar-4">
            <a:extLst xmlns:a="http://schemas.openxmlformats.org/drawingml/2006/main">
              <a:ext uri="{FF2B5EF4-FFF2-40B4-BE49-F238E27FC236}">
                <a16:creationId xmlns:a16="http://schemas.microsoft.com/office/drawing/2014/main" id="{5A2497DB-A712-4E37-B9CF-9B39BADB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149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eat-4-title">
            <a:extLst xmlns:a="http://schemas.openxmlformats.org/drawingml/2006/main">
              <a:ext uri="{FF2B5EF4-FFF2-40B4-BE49-F238E27FC236}">
                <a16:creationId xmlns:a16="http://schemas.microsoft.com/office/drawing/2014/main" id="{80304BB7-3283-42E5-8CBD-479ECDB4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7680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Sessione persistente</a:t>
            </a:r>
          </a:p>
        </p:txBody>
      </p:sp>
      <p:sp>
        <p:nvSpPr>
          <p:cNvPr id="15" name="feat-4-body">
            <a:extLst xmlns:a="http://schemas.openxmlformats.org/drawingml/2006/main">
              <a:ext uri="{FF2B5EF4-FFF2-40B4-BE49-F238E27FC236}">
                <a16:creationId xmlns:a16="http://schemas.microsoft.com/office/drawing/2014/main" id="{D09003DF-220A-4699-94B1-EE96D2C4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8160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Puoi ridurla e riprenderla senza perdere dati.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081f2eb5b4d9d"/>
          <a:srcRect xmlns:a="http://schemas.openxmlformats.org/drawingml/2006/main" l="0" t="26509" r="0" b="26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71600"/>
            <a:ext cx="4552950" cy="4629150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  <p:sp>
        <p:nvSpPr>
          <p:cNvPr id="17" name="brand-3">
            <a:extLst xmlns:a="http://schemas.openxmlformats.org/drawingml/2006/main">
              <a:ext uri="{FF2B5EF4-FFF2-40B4-BE49-F238E27FC236}">
                <a16:creationId xmlns:a16="http://schemas.microsoft.com/office/drawing/2014/main" id="{FE5A2BAD-02FE-492D-AC85-93D2C6E6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8A93"/>
                </a:solidFill>
                <a:latin typeface="Helvetica Neue"/>
                <a:ea typeface="Helvetica Neue"/>
                <a:cs typeface="Helvetica Neue"/>
              </a:defRPr>
            </a:pPr>
            <a:r>
              <a:t>IRONHABIT</a:t>
            </a:r>
          </a:p>
        </p:txBody>
      </p:sp>
      <p:sp>
        <p:nvSpPr>
          <p:cNvPr id="18" name="page-3">
            <a:extLst xmlns:a="http://schemas.openxmlformats.org/drawingml/2006/main">
              <a:ext uri="{FF2B5EF4-FFF2-40B4-BE49-F238E27FC236}">
                <a16:creationId xmlns:a16="http://schemas.microsoft.com/office/drawing/2014/main" id="{3AE20040-68B3-4EFA-A0EA-63A76B7F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9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1755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D331CCDD-941A-423C-A0D8-7105E7D7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F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7A13A8CC-5CCF-4701-958D-0B74D2D0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IRONHABIT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4132D443-20A8-4A83-B480-904C49D7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8096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Tutto resta sul dispositivo.
Tutto resta sotto controllo.</a:t>
            </a:r>
          </a:p>
        </p:txBody>
      </p:sp>
      <p:sp>
        <p:nvSpPr>
          <p:cNvPr id="4" name="closing-1">
            <a:extLst xmlns:a="http://schemas.openxmlformats.org/drawingml/2006/main">
              <a:ext uri="{FF2B5EF4-FFF2-40B4-BE49-F238E27FC236}">
                <a16:creationId xmlns:a16="http://schemas.microsoft.com/office/drawing/2014/main" id="{60CCCDE0-4D93-4036-B221-2FBA8898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Offline-first</a:t>
            </a:r>
          </a:p>
        </p:txBody>
      </p:sp>
      <p:sp>
        <p:nvSpPr>
          <p:cNvPr id="5" name="closing-2">
            <a:extLst xmlns:a="http://schemas.openxmlformats.org/drawingml/2006/main">
              <a:ext uri="{FF2B5EF4-FFF2-40B4-BE49-F238E27FC236}">
                <a16:creationId xmlns:a16="http://schemas.microsoft.com/office/drawing/2014/main" id="{776C60E6-3DE0-482D-8176-441315B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Dati locali</a:t>
            </a:r>
          </a:p>
        </p:txBody>
      </p:sp>
      <p:sp>
        <p:nvSpPr>
          <p:cNvPr id="6" name="closing-3">
            <a:extLst xmlns:a="http://schemas.openxmlformats.org/drawingml/2006/main">
              <a:ext uri="{FF2B5EF4-FFF2-40B4-BE49-F238E27FC236}">
                <a16:creationId xmlns:a16="http://schemas.microsoft.com/office/drawing/2014/main" id="{EEA44B59-780A-40E8-BC93-FEE66036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7680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B"/>
                </a:solidFill>
                <a:latin typeface="Helvetica Neue"/>
                <a:ea typeface="Helvetica Neue"/>
                <a:cs typeface="Helvetica Neue"/>
              </a:defRPr>
            </a:pPr>
            <a:r>
              <a:t>Flusso completo</a:t>
            </a:r>
          </a:p>
        </p:txBody>
      </p:sp>
      <p:sp>
        <p:nvSpPr>
          <p:cNvPr id="7" name="closing-summary">
            <a:extLst xmlns:a="http://schemas.openxmlformats.org/drawingml/2006/main">
              <a:ext uri="{FF2B5EF4-FFF2-40B4-BE49-F238E27FC236}">
                <a16:creationId xmlns:a16="http://schemas.microsoft.com/office/drawing/2014/main" id="{33175C09-7999-4AA3-A75D-AD1F1CA2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F"/>
                </a:solidFill>
                <a:latin typeface="Helvetica Neue"/>
                <a:ea typeface="Helvetica Neue"/>
                <a:cs typeface="Helvetica Neue"/>
              </a:defRPr>
            </a:pPr>
            <a:r>
              <a:t>Pianificazione, esecuzione, storico e obiettivi in una sola app.</a:t>
            </a:r>
          </a:p>
        </p:txBody>
      </p:sp>
      <p:sp>
        <p:nvSpPr>
          <p:cNvPr id="8" name="logo-field">
            <a:extLst xmlns:a="http://schemas.openxmlformats.org/drawingml/2006/main">
              <a:ext uri="{FF2B5EF4-FFF2-40B4-BE49-F238E27FC236}">
                <a16:creationId xmlns:a16="http://schemas.microsoft.com/office/drawing/2014/main" id="{F48AFAB1-F97E-4B58-BC3D-573FBF42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A0A0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18a4292284466"/>
          <a:stretch xmlns:a="http://schemas.openxmlformats.org/drawingml/2006/main"/>
        </p:blipFill>
        <p:spPr>
          <a:xfrm xmlns:a="http://schemas.openxmlformats.org/drawingml/2006/main">
            <a:off x="9277350" y="1847850"/>
            <a:ext cx="1924050" cy="1924050"/>
          </a:xfrm>
          <a:prstGeom xmlns:a="http://schemas.openxmlformats.org/drawingml/2006/main" prst="roundRect">
            <a:avLst>
              <a:gd name="adj" fmla="val 5941"/>
            </a:avLst>
          </a:prstGeom>
        </p:spPr>
      </p:pic>
      <p:sp>
        <p:nvSpPr>
          <p:cNvPr id="10" name="brand-4">
            <a:extLst xmlns:a="http://schemas.openxmlformats.org/drawingml/2006/main">
              <a:ext uri="{FF2B5EF4-FFF2-40B4-BE49-F238E27FC236}">
                <a16:creationId xmlns:a16="http://schemas.microsoft.com/office/drawing/2014/main" id="{FD0A4524-4931-46FD-BE39-63D45053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8A93"/>
                </a:solidFill>
                <a:latin typeface="Helvetica Neue"/>
                <a:ea typeface="Helvetica Neue"/>
                <a:cs typeface="Helvetica Neue"/>
              </a:defRPr>
            </a:pPr>
            <a:r>
              <a:t>IRONHABIT</a:t>
            </a:r>
          </a:p>
        </p:txBody>
      </p:sp>
      <p:sp>
        <p:nvSpPr>
          <p:cNvPr id="11" name="page-4">
            <a:extLst xmlns:a="http://schemas.openxmlformats.org/drawingml/2006/main">
              <a:ext uri="{FF2B5EF4-FFF2-40B4-BE49-F238E27FC236}">
                <a16:creationId xmlns:a16="http://schemas.microsoft.com/office/drawing/2014/main" id="{F344729C-15DE-4503-BDDE-4E18A379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9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6949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2026-07-14T09:19:57.3550000Z</dcterms:created>
  <dcterms:modified xsi:type="dcterms:W3CDTF">2026-07-14T09:19:57.3560000Z</dcterms:modified>
</coreProperties>
</file>